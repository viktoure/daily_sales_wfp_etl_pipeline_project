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Maize flour</c:v>
                </c:pt>
              </c:strCache>
            </c:strRef>
          </c:tx>
          <c:spPr>
            <a:ln w="31750" cap="flat">
              <a:solidFill>
                <a:srgbClr val="1F9E8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F9E8C"/>
              </a:solidFill>
              <a:ln w="9525" cap="flat">
                <a:solidFill>
                  <a:srgbClr val="1F9E8C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2">
                  <c:v>182.11</c:v>
                </c:pt>
                <c:pt idx="3">
                  <c:v>231.03</c:v>
                </c:pt>
                <c:pt idx="4">
                  <c:v>200.18</c:v>
                </c:pt>
                <c:pt idx="5">
                  <c:v>137.9</c:v>
                </c:pt>
                <c:pt idx="6">
                  <c:v>154.5</c:v>
                </c:pt>
                <c:pt idx="7">
                  <c:v>238.12</c:v>
                </c:pt>
                <c:pt idx="8">
                  <c:v>274.11</c:v>
                </c:pt>
                <c:pt idx="9">
                  <c:v>295.27999999999997</c:v>
                </c:pt>
                <c:pt idx="10">
                  <c:v>818.96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7A-4286-8547-1BDA55F7A7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Rice (imported)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172.42</c:v>
                </c:pt>
                <c:pt idx="1">
                  <c:v>199.99</c:v>
                </c:pt>
                <c:pt idx="2">
                  <c:v>380.38</c:v>
                </c:pt>
                <c:pt idx="3">
                  <c:v>520.94000000000005</c:v>
                </c:pt>
                <c:pt idx="4">
                  <c:v>460.62</c:v>
                </c:pt>
                <c:pt idx="5">
                  <c:v>365.88</c:v>
                </c:pt>
                <c:pt idx="6">
                  <c:v>507.14</c:v>
                </c:pt>
                <c:pt idx="7">
                  <c:v>601.78</c:v>
                </c:pt>
                <c:pt idx="8">
                  <c:v>636.65</c:v>
                </c:pt>
                <c:pt idx="9">
                  <c:v>942.87</c:v>
                </c:pt>
                <c:pt idx="10">
                  <c:v>2002.47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7A-4286-8547-1BDA55F7A7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Rice (local)</c:v>
                </c:pt>
              </c:strCache>
            </c:strRef>
          </c:tx>
          <c:spPr>
            <a:ln w="31750" cap="flat">
              <a:solidFill>
                <a:srgbClr val="E8823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823C"/>
              </a:solidFill>
              <a:ln w="9525" cap="flat">
                <a:solidFill>
                  <a:srgbClr val="E8823C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2026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166.77</c:v>
                </c:pt>
                <c:pt idx="1">
                  <c:v>188.01</c:v>
                </c:pt>
                <c:pt idx="2">
                  <c:v>289.47000000000003</c:v>
                </c:pt>
                <c:pt idx="3">
                  <c:v>386.63</c:v>
                </c:pt>
                <c:pt idx="4">
                  <c:v>315.77</c:v>
                </c:pt>
                <c:pt idx="5">
                  <c:v>252.89</c:v>
                </c:pt>
                <c:pt idx="6">
                  <c:v>326.16000000000003</c:v>
                </c:pt>
                <c:pt idx="7">
                  <c:v>414.76</c:v>
                </c:pt>
                <c:pt idx="8">
                  <c:v>464.68</c:v>
                </c:pt>
                <c:pt idx="9">
                  <c:v>656.74</c:v>
                </c:pt>
                <c:pt idx="10">
                  <c:v>990.24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7A-4286-8547-1BDA55F7A7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Price per unit (NGN)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Average price (NGN)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B2A4A"/>
                </a:solidFill>
                <a:latin typeface="Arial"/>
              </a:rPr>
              <a:t>Maize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Pre-insurgency</c:v>
                </c:pt>
              </c:strCache>
            </c:strRef>
          </c:tx>
          <c:spPr>
            <a:solidFill>
              <a:srgbClr val="1F9E8C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Borno/Yobe</c:v>
                </c:pt>
                <c:pt idx="1">
                  <c:v>Rest of Nigeria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178.85</c:v>
                </c:pt>
                <c:pt idx="1">
                  <c:v>153.77000000000001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CF-4709-92A7-E4EA23EDE9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Insurgency-era</c:v>
                </c:pt>
              </c:strCache>
            </c:strRef>
          </c:tx>
          <c:spPr>
            <a:solidFill>
              <a:srgbClr val="E8823C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Borno/Yobe</c:v>
                </c:pt>
                <c:pt idx="1">
                  <c:v>Rest of Nigeria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174.2</c:v>
                </c:pt>
                <c:pt idx="1">
                  <c:v>179.83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CF-4709-92A7-E4EA23EDE9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B2A4A"/>
                </a:solidFill>
                <a:latin typeface="Arial"/>
              </a:rPr>
              <a:t>Millet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Pre-insurgency</c:v>
                </c:pt>
              </c:strCache>
            </c:strRef>
          </c:tx>
          <c:spPr>
            <a:solidFill>
              <a:srgbClr val="1F9E8C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Borno/Yobe</c:v>
                </c:pt>
                <c:pt idx="1">
                  <c:v>Rest of Nigeria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164.16</c:v>
                </c:pt>
                <c:pt idx="1">
                  <c:v>113.76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78-4384-8D7A-D59DD0512B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Insurgency-era</c:v>
                </c:pt>
              </c:strCache>
            </c:strRef>
          </c:tx>
          <c:spPr>
            <a:solidFill>
              <a:srgbClr val="E8823C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Borno/Yobe</c:v>
                </c:pt>
                <c:pt idx="1">
                  <c:v>Rest of Nigeria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120.37</c:v>
                </c:pt>
                <c:pt idx="1">
                  <c:v>129.15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78-4384-8D7A-D59DD0512B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B2A4A"/>
                </a:solidFill>
                <a:latin typeface="Arial"/>
              </a:rPr>
              <a:t>Rice (imported)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Pre-insurgency</c:v>
                </c:pt>
              </c:strCache>
            </c:strRef>
          </c:tx>
          <c:spPr>
            <a:solidFill>
              <a:srgbClr val="1F9E8C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Borno/Yobe</c:v>
                </c:pt>
                <c:pt idx="1">
                  <c:v>Rest of Nigeria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411.86</c:v>
                </c:pt>
                <c:pt idx="1">
                  <c:v>358.69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82-426D-B787-ACBA2D0B34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Insurgency-era</c:v>
                </c:pt>
              </c:strCache>
            </c:strRef>
          </c:tx>
          <c:spPr>
            <a:solidFill>
              <a:srgbClr val="E8823C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Borno/Yobe</c:v>
                </c:pt>
                <c:pt idx="1">
                  <c:v>Rest of Nigeria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331.39</c:v>
                </c:pt>
                <c:pt idx="1">
                  <c:v>315.38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82-426D-B787-ACBA2D0B34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8D8973F5-D0F2-5108-3C6C-8067D5A046C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3089177" cy="6211167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10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DS-14  •  3MTT NEXTGEN COHORT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19456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Nigeria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Years of Market Data — Extract, Transform, Load, Analyze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Egenkonye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172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Fellow | </a:t>
            </a:r>
            <a:r>
              <a:rPr lang="en-US" sz="1200" b="1" dirty="0">
                <a:solidFill>
                  <a:srgbClr val="8C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 ID: </a:t>
            </a:r>
            <a:r>
              <a:rPr lang="en-US" sz="1200" dirty="0">
                <a:solidFill>
                  <a:srgbClr val="8C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FE/23/23035267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35440" y="5824728"/>
            <a:ext cx="320040" cy="576072"/>
          </a:xfrm>
          <a:prstGeom prst="rect">
            <a:avLst/>
          </a:prstGeom>
          <a:solidFill>
            <a:srgbClr val="1F9E8C"/>
          </a:solidFill>
          <a:ln/>
        </p:spPr>
      </p:sp>
      <p:sp>
        <p:nvSpPr>
          <p:cNvPr id="9" name="Shape 7"/>
          <p:cNvSpPr/>
          <p:nvPr/>
        </p:nvSpPr>
        <p:spPr>
          <a:xfrm>
            <a:off x="9646920" y="5495544"/>
            <a:ext cx="320040" cy="905256"/>
          </a:xfrm>
          <a:prstGeom prst="rect">
            <a:avLst/>
          </a:prstGeom>
          <a:solidFill>
            <a:srgbClr val="E8823C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0" y="5660136"/>
            <a:ext cx="320040" cy="740664"/>
          </a:xfrm>
          <a:prstGeom prst="rect">
            <a:avLst/>
          </a:prstGeom>
          <a:solidFill>
            <a:srgbClr val="1F9E8C"/>
          </a:solidFill>
          <a:ln/>
        </p:spPr>
      </p:sp>
      <p:sp>
        <p:nvSpPr>
          <p:cNvPr id="11" name="Shape 9"/>
          <p:cNvSpPr/>
          <p:nvPr/>
        </p:nvSpPr>
        <p:spPr>
          <a:xfrm>
            <a:off x="10469880" y="5248656"/>
            <a:ext cx="320040" cy="1152144"/>
          </a:xfrm>
          <a:prstGeom prst="rect">
            <a:avLst/>
          </a:prstGeom>
          <a:solidFill>
            <a:srgbClr val="E8823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4919472"/>
            <a:ext cx="320040" cy="1481328"/>
          </a:xfrm>
          <a:prstGeom prst="rect">
            <a:avLst/>
          </a:prstGeom>
          <a:solidFill>
            <a:srgbClr val="1F9E8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0" y="5413248"/>
            <a:ext cx="320040" cy="987552"/>
          </a:xfrm>
          <a:prstGeom prst="rect">
            <a:avLst/>
          </a:prstGeom>
          <a:solidFill>
            <a:srgbClr val="E8823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04320" y="4754880"/>
            <a:ext cx="320040" cy="1645920"/>
          </a:xfrm>
          <a:prstGeom prst="rect">
            <a:avLst/>
          </a:prstGeom>
          <a:solidFill>
            <a:srgbClr val="1F9E8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WFP market-monitoring data, spanning 2002-2026, used to answer three questions.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Trends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have prices for key food commodities changed over two decades?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6344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Comparison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370332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Nigerian states have the highest and most volatile food prices?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1488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667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Insurgency Impact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70332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food prices in Borno/Yobe diverge from the rest of Nigeria after the 2009 insurgency escalation?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 in Nigeria  |  DS-14  |  Victor Egenkonye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Tools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F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Nigeria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Food Programme, via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Humanitarian Data Exchange (HDX)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87,963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17520" y="35935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price 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1422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17520" y="42153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7640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2002-2026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17520" y="48371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 covered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5577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C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multiple states, markets, and commodities, at both Retail and Wholesale price levels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LIBRARIES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96596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0208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0" y="202082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62432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67919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0" y="26791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Cleaning, transformation, aggregation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28269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337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column creation (periods, regions)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394106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5F7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995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0" y="39959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459943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654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sqlite3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86800" y="46542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data storage (Load step)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525780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4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53126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686800" y="53126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environment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 in Nigeria  |  DS-14  |  Victor Egenkonye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 Quality Decisions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dataset needed real judgment calls before any analysis could be trusted.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48256"/>
            <a:ext cx="128016" cy="128016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47672"/>
            <a:ext cx="27432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prices only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23360" y="192024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only 'actual' priceflag rows (51,789 of 87,963). Excluded rows were concentrated in Borno (14,574) and Yobe (9,586) - reflecting real data-collection challenges, not a flaw.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236976"/>
            <a:ext cx="128016" cy="128016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36392"/>
            <a:ext cx="27432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vs Wholesale split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23360" y="310896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averaged together - a shop's buying price and a shopper's price aren't comparable. Retail (2014-2026) drives the trend/regional tables; Wholesale (2002-2021) drives the insurgency comparison.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425696"/>
            <a:ext cx="128016" cy="128016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325112"/>
            <a:ext cx="27432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normalization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23360" y="42976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unit labels (KG, 100 KG, 100 Tubers...) manually mapped to quantity + base_unit, then converted to a consistent price_per_unit.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614416"/>
            <a:ext cx="128016" cy="128016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513832"/>
            <a:ext cx="27432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granularity kept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023360" y="548640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(white), (yellow), and flour kept as separate lines - each has its own commodity_id and its own price point.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 in Nigeria  |  DS-14  |  Victor Egenkonye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1604772" y="2423160"/>
            <a:ext cx="585216" cy="585216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5" name="Text 3"/>
          <p:cNvSpPr/>
          <p:nvPr/>
        </p:nvSpPr>
        <p:spPr>
          <a:xfrm>
            <a:off x="160477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&amp; QA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raw CSV.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every categorical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for hidden mixes.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72968" y="34747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39412" y="2423160"/>
            <a:ext cx="585216" cy="585216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11" name="Text 9"/>
          <p:cNvSpPr/>
          <p:nvPr/>
        </p:nvSpPr>
        <p:spPr>
          <a:xfrm>
            <a:off x="443941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6576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Filter, split by price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normalize units,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for clarity.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07608" y="34747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274052" y="2423160"/>
            <a:ext cx="585216" cy="585216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727405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6576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 tables: commodity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trend, regional summary,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insurgency comparison.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842248" y="34747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4400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F4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08692" y="2423160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10869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81160" y="3200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0" y="365760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all tables into a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(food_prices.db).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Wrapped as reusable functions: extract() -&gt; transform() -&gt; load() - same pattern used across both project pipelines.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 in Nigeria  |  DS-14  |  Victor Egenkonye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Price Trends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average Retail price per unit, 2014-2026 (full monthly detail is in the notebook).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10881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rice rose from ~N172 (2014) to ~N2,002 (2026) - proportionally outpacing local rice, whose price rose from ~N167 to ~N990 over the same period.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 in Nigeria  |  DS-14  |  Victor Egenkonye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Price Summary — Palm Oil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Retail price per state. Same table (regional_summary) also captures every other commodity.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195668813"/>
              </p:ext>
            </p:extLst>
          </p:nvPr>
        </p:nvGraphicFramePr>
        <p:xfrm>
          <a:off x="640080" y="1691640"/>
          <a:ext cx="108813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Borno (N691) and Yobe (N685) top the list - highlighted in red. Abia, despite a mid-range average, showed the highest volatility of any state (std NGN 350.8, nearly matching its own average).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 in Nigeria  |  DS-14  |  Victor Egenkonye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Pre/Post-Insurgency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price data (2002-2021), split at July 2009 - Borno/Yobe vs. Rest of Nigeria.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35204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297680" y="1691640"/>
          <a:ext cx="35204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7955280" y="1691640"/>
          <a:ext cx="35204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 2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and Millet: Borno/Yobe prices stayed flat or fell while the Rest of Nigeria rose - consistent with weakened local demand and supply redirected elsewhere. Imported rice fell in both regions, pointing to import/exchange-rate factors unrelated to the conflict. Borno/Yobe's pre-insurgency sample is thin (91 records vs. 3,220 after) - read as a pattern, not proof.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 in Nigeria  |  DS-14  |  Victor Egenkonye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52144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755648"/>
            <a:ext cx="128016" cy="128016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459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51,789 verified price records analyzed (of 87,963 raw) - exclusions concentrated in Borno &amp; Yobe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651760"/>
            <a:ext cx="128016" cy="128016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rice rose ~1,061% (2014-2026), far outpacing local rice's ~494% rise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547872"/>
            <a:ext cx="128016" cy="128016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38144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Borno has the highest average Palm Oil price (N691); Abia has the highest volatility (std N351)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443984"/>
            <a:ext cx="128016" cy="128016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3342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&amp; Millet: Borno/Yobe prices flat/falling post-insurgency while Rest of Nigeria rose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5340096"/>
            <a:ext cx="128016" cy="128016"/>
          </a:xfrm>
          <a:prstGeom prst="ellipse">
            <a:avLst/>
          </a:prstGeom>
          <a:solidFill>
            <a:srgbClr val="1F9E8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523036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rice fell in both regions post-2009 - a reminder that not every price move traces back to the insurgency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 in Nigeria  |  DS-14  |  Victor Egenkonye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ETL pipeline analyzing 87,963 real WFP price records - cleaning, unit normalization, and three analytical tables (commodity trends, regional summary, insurgency comparison), all loaded into SQLite.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61188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Pre-insurgency Borno/Yobe sample is thin (91 records) - limits confidence in that baseline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Insurgency comparison stops at 2021 (Wholesale data limit) - doesn't confirm if patterns persist to today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5212080"/>
            <a:ext cx="109728" cy="10972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Retail data (extends to 2026) as a complementary 'is this still true today' check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5715000"/>
            <a:ext cx="109728" cy="109728"/>
          </a:xfrm>
          <a:prstGeom prst="ellipse">
            <a:avLst/>
          </a:prstGeom>
          <a:solidFill>
            <a:srgbClr val="E8823C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usdprice to separate real price movement from currency devaluation effects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9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 Food Prices in Nigeria  |  DS-14  |  Victor Egenkonye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6019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981</Words>
  <Application>Microsoft Office PowerPoint</Application>
  <PresentationFormat>Widescreen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vikToure `</cp:lastModifiedBy>
  <cp:revision>3</cp:revision>
  <dcterms:created xsi:type="dcterms:W3CDTF">2026-08-25T22:25:12Z</dcterms:created>
  <dcterms:modified xsi:type="dcterms:W3CDTF">2026-08-26T12:43:07Z</dcterms:modified>
</cp:coreProperties>
</file>